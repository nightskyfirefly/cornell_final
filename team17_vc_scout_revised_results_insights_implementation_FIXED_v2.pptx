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1206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D4FF"/>
                </a:solidFill>
              </a:rPr>
              <a:t>REVISED 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VC Scout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8B3C5"/>
                </a:solidFill>
              </a:rPr>
              <a:t>Revised Results, Insights Summary, and Implementation Plan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8758B"/>
                </a:solidFill>
              </a:rPr>
              <a:t>Startup Growth and Investment  |  Expanded Dataset Audit + Audited Benchmark Model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5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75,230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expanded rows audited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331720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59736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unit-suspect funding rows flagged/corrected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096512" y="27432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8346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5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1,829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24528" y="3182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rows with valuation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5861304" y="274320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834640"/>
            <a:ext cx="1161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EE7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89320" y="318211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audited test R²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443216" y="274320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834640"/>
            <a:ext cx="1252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5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71232" y="318211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funding elasticity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116568" y="2743200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2834640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44584" y="318211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noisy Form D mega dollars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566928" y="4096512"/>
            <a:ext cx="10058400" cy="877824"/>
          </a:xfrm>
          <a:prstGeom prst="roundRect">
            <a:avLst>
              <a:gd name="adj" fmla="val 833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096512"/>
            <a:ext cx="45720" cy="877824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24528"/>
            <a:ext cx="9729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Executive answer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731520" y="4517136"/>
            <a:ext cx="97292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5"/>
                </a:solidFill>
              </a:rPr>
              <a:t>VC Scout should be implemented as a benchmark-and-scouting framework, not a startup-success prediction engine. The revised work audits the expanded data, preserves traceability, and shifts the insight from raw valuation to funding-adjusted outperformance.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5522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Team 17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797296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3C5"/>
                </a:solidFill>
              </a:rPr>
              <a:t>Mia Murphy  •  Finn Kliewer  •  Kayvon Jafarzadeh  •  Nathanael Gill  •  Om Patel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199632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8758B"/>
                </a:solidFill>
              </a:rPr>
              <a:t>Submission package includes PPTX/PDF plus auditable CSVs, source-of-truth JSON, and a reproducible Python script.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DELIVERABLE FOCUS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since the prior submission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prior work established EDA and a first valuation model; this submission turns that into a defensible implementation plan.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0352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353312"/>
            <a:ext cx="45720" cy="129844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Refined tools and models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94944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We landed on a two-layer architecture: an audited unicorn valuation benchmark plus an expanded-tier diagnostic layer. Gradient Boosting remains the benchmark champion, while OLS/Ridge remain interpretability checks.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334256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1353312"/>
            <a:ext cx="45720" cy="129844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Shortcomings addressed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4498848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The expanded data adds useful controls, but it also introduces funding-unit risk, source/timing mismatch, missing valuation coverage, and noisy Form D entities. We address these through flags, corrections, and decision boundaries.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8138160" y="1353312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353312"/>
            <a:ext cx="45720" cy="129844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48132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Insights and hypotheses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302752" y="1773936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The analysis now tests 2021 as a market-regime shock, validates diminishing returns to funding, stress-tests no-funding scouting, and uses residuals to identify outperformance patterns.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30352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063240"/>
            <a:ext cx="45720" cy="1298448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Business implications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94944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VC Scout should rank segments by benchmark outperformance, not raw valuation or raw unicorn count. This reduces hype bias and makes rankings more explainable.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334256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34256" y="3063240"/>
            <a:ext cx="45720" cy="129844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Implementation plan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4498848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The final deliverable should include a transparent scoring layer, sample-size confidence flags, investor network features, and a dashboard/dashboard-style slide for business users.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8138160" y="306324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063240"/>
            <a:ext cx="45720" cy="129844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19125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Traceability standard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8302752" y="3483864"/>
            <a:ext cx="319125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Every number in the deck maps to a cleaned CSV, model output file, source-of-truth JSON, or reproducible script. The goal is to avoid black-box reporting.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30352" y="4937760"/>
            <a:ext cx="11128248" cy="868680"/>
          </a:xfrm>
          <a:prstGeom prst="roundRect">
            <a:avLst>
              <a:gd name="adj" fmla="val 8421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937760"/>
            <a:ext cx="45720" cy="86868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065776"/>
            <a:ext cx="10799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Framing shift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" y="5358384"/>
            <a:ext cx="10799064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3C5"/>
                </a:solidFill>
              </a:rPr>
              <a:t>From predict unicorn valuation to identifying funding-adjusted valuation outperformance signals among unicorn and comparable startup tiers.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DATA SHORTCOMINGS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Expanded data improves the project only after an audit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This is where the revised analysis directly addresses data quality and survivorship-bias risk.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9496" y="1298448"/>
            <a:ext cx="4672584" cy="3026664"/>
          </a:xfrm>
          <a:prstGeom prst="roundRect">
            <a:avLst>
              <a:gd name="adj" fmla="val 1813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1" name="Image 0" descr="/mnt/data/vc_scout_final_assets/audit_coverag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4617720" cy="2971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532120" y="1325880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32120" y="1325880"/>
            <a:ext cx="45720" cy="1051560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96712" y="1453896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Coverage limitation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5696712" y="1746504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Only 1,829 of 75,230 rows have valuation. This prevents valuation modeling across the full startup universe.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8613648" y="1325880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13648" y="1325880"/>
            <a:ext cx="45720" cy="105156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1453896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Funding unit risk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8778240" y="1746504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950 unicorn rows were flagged because funding exceeded valuation, indicating a likely M/B scaling issue in the expanded build.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5532120" y="2770632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32120" y="2770632"/>
            <a:ext cx="45720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96712" y="2898648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Form D noise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5696712" y="3191256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Raw Form D includes many funds, real estate entities, and finance vehicles. It is retained as market context, not a clean startup-training set.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8613648" y="2770632"/>
            <a:ext cx="2761488" cy="1051560"/>
          </a:xfrm>
          <a:prstGeom prst="roundRect">
            <a:avLst>
              <a:gd name="adj" fmla="val 695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13648" y="2770632"/>
            <a:ext cx="45720" cy="10515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78240" y="2898648"/>
            <a:ext cx="2432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Survivorship remains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8778240" y="3191256"/>
            <a:ext cx="2432304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The expanded master adds comparison tiers but is not a time-aligned panel of all startups from formation to outcome.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66928" y="4846320"/>
            <a:ext cx="10808208" cy="658368"/>
          </a:xfrm>
          <a:prstGeom prst="roundRect">
            <a:avLst>
              <a:gd name="adj" fmla="val 11111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4846320"/>
            <a:ext cx="45720" cy="65836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4974336"/>
            <a:ext cx="10479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How we addressed it</a:t>
            </a:r>
            <a:endParaRPr lang="en-US" sz="1070" dirty="0"/>
          </a:p>
        </p:txBody>
      </p:sp>
      <p:sp>
        <p:nvSpPr>
          <p:cNvPr id="31" name="Text 28"/>
          <p:cNvSpPr/>
          <p:nvPr/>
        </p:nvSpPr>
        <p:spPr>
          <a:xfrm>
            <a:off x="731520" y="5266944"/>
            <a:ext cx="104790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5"/>
                </a:solidFill>
              </a:rPr>
              <a:t>The cleaned master preserves raw values, adds audited funding, assigns audit flags, isolates Form D, and separates unicorn valuation benchmarking from broader tier diagnostics.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HYPOTHESIS H1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 is a market-regime shock, not a normal trend line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data flags the discontinuity; it does not prove COVID causality by itself.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9496" y="1307592"/>
            <a:ext cx="5129784" cy="2889504"/>
          </a:xfrm>
          <a:prstGeom prst="roundRect">
            <a:avLst>
              <a:gd name="adj" fmla="val 1899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1" name="Image 0" descr="/mnt/data/vc_scout_final_assets/era_year_counts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5074920" cy="2834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61888" y="1307592"/>
            <a:ext cx="5266944" cy="2889504"/>
          </a:xfrm>
          <a:prstGeom prst="roundRect">
            <a:avLst>
              <a:gd name="adj" fmla="val 1899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3" name="Image 1" descr="/mnt/data/vc_scout_final_assets/era_medians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35024"/>
            <a:ext cx="5212080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461772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4617720"/>
            <a:ext cx="45720" cy="102412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4745736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What is proven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731520" y="5038344"/>
            <a:ext cx="300837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5"/>
                </a:solidFill>
              </a:rPr>
              <a:t>2021 is the largest single dated current-unicorn cohort in the expanded data, and era differences in valuation, funding, and sector mix are statistically significant.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4151376" y="461772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51376" y="4617720"/>
            <a:ext cx="45720" cy="102412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15968" y="4745736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What is not proven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4315968" y="5038344"/>
            <a:ext cx="300837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5"/>
                </a:solidFill>
              </a:rPr>
              <a:t>The dataset alone cannot separate COVID-driven demand, cheap capital, investor behavior, or valuation inflation as causal explanations.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7735824" y="461772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35824" y="4617720"/>
            <a:ext cx="45720" cy="102412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0416" y="4745736"/>
            <a:ext cx="3008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Action for VC Scout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7900416" y="5038344"/>
            <a:ext cx="300837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A8B3C5"/>
                </a:solidFill>
              </a:rPr>
              <a:t>Keep a 2021/era indicator and show users when a benchmark is influenced by an unusual funding regime.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TOOLS LANDED ON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Two-layer analytics architecture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tools are chosen to match what the data can support, not what sounds most sophisticated.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44752"/>
            <a:ext cx="45720" cy="1170432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57276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Layer A: audited unicorn valuation benchmark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50392" y="1865376"/>
            <a:ext cx="474573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Supervised regression on ln(valuation) for unicorn-history rows with audited funding. Gradient Boosting captures nonlinearity; OLS/Ridge provide explainability and elasticity checks.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419088" y="144475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444752"/>
            <a:ext cx="45720" cy="1170432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57276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Layer B: expanded-tier diagnostic model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583680" y="1865376"/>
            <a:ext cx="4745736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8B3C5"/>
                </a:solidFill>
              </a:rPr>
              <a:t>Classifier compares unicorn-history companies with funded controls, accelerator controls, and high-funding proxies. It is useful for screening patterns, not causal winner prediction.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121408" y="30175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45D4FF">
              <a:alpha val="90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3067812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E1320"/>
                </a:solidFill>
              </a:rPr>
              <a:t>Benchmark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4690872" y="30175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B58CFF">
              <a:alpha val="90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67812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E1320"/>
                </a:solidFill>
              </a:rPr>
              <a:t>Residuals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7269480" y="30175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3067812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E1320"/>
                </a:solidFill>
              </a:rPr>
              <a:t>Scoring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9848088" y="30175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FFB84D">
              <a:alpha val="90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12096" y="3067812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E1320"/>
                </a:solidFill>
              </a:rPr>
              <a:t>Decision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914400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712464"/>
            <a:ext cx="45720" cy="93268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Model output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8B3C5"/>
                </a:solidFill>
              </a:rPr>
              <a:t>Expected valuation given funding, sector, geography, era, tier, speed, and investors.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493008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3712464"/>
            <a:ext cx="45720" cy="932688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Insight output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3657600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8B3C5"/>
                </a:solidFill>
              </a:rPr>
              <a:t>Actual minus expected valuation identifies funding-adjusted outperformance.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071616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71616" y="3712464"/>
            <a:ext cx="45720" cy="93268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VC Scout score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6236208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8B3C5"/>
                </a:solidFill>
              </a:rPr>
              <a:t>Blend residuals, tier signal, sample size, data confidence, and investor network features.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650224" y="3712464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224" y="3712464"/>
            <a:ext cx="45720" cy="93268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14816" y="3840480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User action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8814816" y="4133088"/>
            <a:ext cx="209397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8B3C5"/>
                </a:solidFill>
              </a:rPr>
              <a:t>Prioritize sector/region/investor clusters for deeper diligence, not automatic investing.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85800" y="5486400"/>
            <a:ext cx="10808208" cy="475488"/>
          </a:xfrm>
          <a:prstGeom prst="roundRect">
            <a:avLst>
              <a:gd name="adj" fmla="val 15385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5486400"/>
            <a:ext cx="4572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" y="5614416"/>
            <a:ext cx="10479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B"/>
                </a:solidFill>
              </a:rPr>
              <a:t>Guardrail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0392" y="5907024"/>
            <a:ext cx="10479024" cy="-36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A8B3C5"/>
                </a:solidFill>
              </a:rPr>
              <a:t>No claim of “probability of becoming a unicorn” until there is a true time-aligned non-unicorn panel with observed outcomes.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REVISED RESULTS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audited benchmark has modest but credible signal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important result is not a perfect model; it is a defendable benchmark engine.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9496" y="1280160"/>
            <a:ext cx="5129784" cy="2999232"/>
          </a:xfrm>
          <a:prstGeom prst="roundRect">
            <a:avLst>
              <a:gd name="adj" fmla="val 1829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1" name="Image 0" descr="/mnt/data/vc_scout_final_assets/model_results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07592"/>
            <a:ext cx="5074920" cy="2944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34456" y="1280160"/>
            <a:ext cx="5312664" cy="2999232"/>
          </a:xfrm>
          <a:prstGeom prst="roundRect">
            <a:avLst>
              <a:gd name="adj" fmla="val 1829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3" name="Image 1" descr="/mnt/data/vc_scout_final_assets/funding_elasticity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307592"/>
            <a:ext cx="5257800" cy="29443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4681728"/>
            <a:ext cx="45720" cy="987552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Champion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73152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A8B3C5"/>
                </a:solidFill>
              </a:rPr>
              <a:t>Gradient Boosting remains preferred after the audit: test R² ~= 0.30. This is lower than the earlier Kaggle-only result, but more defensible.</a:t>
            </a:r>
            <a:endParaRPr lang="en-US" sz="755" dirty="0"/>
          </a:p>
        </p:txBody>
      </p:sp>
      <p:sp>
        <p:nvSpPr>
          <p:cNvPr id="18" name="Shape 14"/>
          <p:cNvSpPr/>
          <p:nvPr/>
        </p:nvSpPr>
        <p:spPr>
          <a:xfrm>
            <a:off x="340156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01568" y="4681728"/>
            <a:ext cx="45720" cy="987552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6616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Funding effect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356616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5"/>
                </a:solidFill>
              </a:rPr>
              <a:t>Funding remains important, but elasticity ~= 0.49 means valuation rises less than one-for-one with capital raised.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6236208" y="4681728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36208" y="4681728"/>
            <a:ext cx="45720" cy="9875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4809744"/>
            <a:ext cx="2276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No-funding stress test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6400800" y="5102352"/>
            <a:ext cx="22768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5"/>
                </a:solidFill>
              </a:rPr>
              <a:t>Removing funding drops R² to about 0.05, showing early-stage scouting is much harder than late-stage benchmarking.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9070848" y="468172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070848" y="4681728"/>
            <a:ext cx="45720" cy="987552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35440" y="4809744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Implication</a:t>
            </a:r>
            <a:endParaRPr lang="en-US" sz="1070" dirty="0"/>
          </a:p>
        </p:txBody>
      </p:sp>
      <p:sp>
        <p:nvSpPr>
          <p:cNvPr id="29" name="Text 25"/>
          <p:cNvSpPr/>
          <p:nvPr/>
        </p:nvSpPr>
        <p:spPr>
          <a:xfrm>
            <a:off x="9235440" y="5102352"/>
            <a:ext cx="181965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Use model residuals and segment signals, not exact point estimates.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INSIGHTS DEVELOPED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Hypotheses proven, disproven, and carried forward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This turns the analysis into decision-ready learning, not just charts.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11018520" cy="713232"/>
          </a:xfrm>
          <a:prstGeom prst="rect">
            <a:avLst/>
          </a:prstGeom>
          <a:solidFill>
            <a:srgbClr val="1D2A42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35608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Hypothesis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385566" y="1435608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Status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368900" y="1435608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Evidence / implication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66928" y="2084832"/>
            <a:ext cx="110185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148840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H1: 2021 is a distinct regime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385566" y="2148840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Supported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5368900" y="2148840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Largest dated cohort; valuation/funding distributions and sector mix differ by era. Interpret as market-regime signal, not proof of COVID causality.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566928" y="2798064"/>
            <a:ext cx="11018520" cy="713232"/>
          </a:xfrm>
          <a:prstGeom prst="rect">
            <a:avLst/>
          </a:prstGeom>
          <a:solidFill>
            <a:srgbClr val="121C2E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862072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H2: Funding has diminishing returns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3385566" y="2862072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Supported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5368900" y="2862072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Audited log-log elasticity ~= 0.49. More capital helps, but raw funding does not scale valuation one-for-one.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66928" y="3511296"/>
            <a:ext cx="110185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575304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H3: Sector/geography add signal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385566" y="3575304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Partially supported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5368900" y="3575304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Residual tables show directional variation, but thin samples need confidence flags before ranking.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11018520" cy="713232"/>
          </a:xfrm>
          <a:prstGeom prst="rect">
            <a:avLst/>
          </a:prstGeom>
          <a:solidFill>
            <a:srgbClr val="121C2E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4288536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H4: Expanded controls solve survivorship bias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3385566" y="4288536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Disproven / partial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5368900" y="4288536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The 75k-row master helps context, but source timing, missing valuation, and proxy labels remain.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566928" y="4937760"/>
            <a:ext cx="110185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5001768"/>
            <a:ext cx="26449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H5: Investor count captures network quality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3385566" y="5001768"/>
            <a:ext cx="18736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Not proven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5368900" y="5001768"/>
            <a:ext cx="61708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B3C5"/>
                </a:solidFill>
              </a:rPr>
              <a:t>Investor count is too crude; final model should use top-fund flags and co-investor clusters.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66928" y="5715000"/>
            <a:ext cx="11018520" cy="749808"/>
          </a:xfrm>
          <a:prstGeom prst="roundRect">
            <a:avLst>
              <a:gd name="adj" fmla="val 9756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5715000"/>
            <a:ext cx="45720" cy="74980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43016"/>
            <a:ext cx="10689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4F7FB"/>
                </a:solidFill>
              </a:rPr>
              <a:t>Next analytic emphasis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731520" y="6135624"/>
            <a:ext cx="106893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Move from company-level valuation prediction to segment-level outperformance, where data quality and sample-size caveats can be surfaced honestly.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INSIGHT ENGINE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Residuals turn a model into VC Scout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Actual minus expected valuation is the cleanest bridge from statistics to business action.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1208" y="1280160"/>
            <a:ext cx="5449824" cy="2980944"/>
          </a:xfrm>
          <a:prstGeom prst="roundRect">
            <a:avLst>
              <a:gd name="adj" fmla="val 1840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1" name="Image 0" descr="/mnt/data/vc_scout_final_assets/industry_residuals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5394960" cy="2926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72200" y="1280160"/>
            <a:ext cx="5129784" cy="2980944"/>
          </a:xfrm>
          <a:prstGeom prst="roundRect">
            <a:avLst>
              <a:gd name="adj" fmla="val 1840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3" name="Image 1" descr="/mnt/data/vc_scout_final_assets/country_residuals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07592"/>
            <a:ext cx="5074920" cy="2926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4709160"/>
            <a:ext cx="45720" cy="950976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323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How to read it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71323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Positive residuals mean a segment exceeds expected valuation after adjusting for funding and context.</a:t>
            </a:r>
            <a:endParaRPr lang="en-US" sz="810" dirty="0"/>
          </a:p>
        </p:txBody>
      </p:sp>
      <p:sp>
        <p:nvSpPr>
          <p:cNvPr id="18" name="Shape 14"/>
          <p:cNvSpPr/>
          <p:nvPr/>
        </p:nvSpPr>
        <p:spPr>
          <a:xfrm>
            <a:off x="416052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60520" y="4709160"/>
            <a:ext cx="45720" cy="950976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511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What is useful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432511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Residuals create watchlists: segments worth deeper diligence because they outperform a fair benchmark.</a:t>
            </a:r>
            <a:endParaRPr lang="en-US" sz="810" dirty="0"/>
          </a:p>
        </p:txBody>
      </p:sp>
      <p:sp>
        <p:nvSpPr>
          <p:cNvPr id="22" name="Shape 18"/>
          <p:cNvSpPr/>
          <p:nvPr/>
        </p:nvSpPr>
        <p:spPr>
          <a:xfrm>
            <a:off x="7772400" y="4709160"/>
            <a:ext cx="3383280" cy="950976"/>
          </a:xfrm>
          <a:prstGeom prst="roundRect">
            <a:avLst>
              <a:gd name="adj" fmla="val 7692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72400" y="4709160"/>
            <a:ext cx="45720" cy="950976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36992" y="483717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What to avoid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7936992" y="5129784"/>
            <a:ext cx="305409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Do not treat small-n residual leaders as final rankings. Add confidence and sample-size penalties.</a:t>
            </a:r>
            <a:endParaRPr lang="en-US" sz="8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EXPANDED-TIER DIAGNOSTIC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accuracy can be a warning sign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classifier can screen patterns, but it can also learn source artifacts.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28016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4F7FB"/>
                </a:solidFill>
              </a:rPr>
              <a:t>Expanded-tier classifier: high diagnostic accuracy, high bias risk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444752" y="1527048"/>
            <a:ext cx="146304" cy="6400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ROC AUC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660904" y="1527048"/>
            <a:ext cx="146304" cy="6400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Balanced accuracy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877056" y="1527048"/>
            <a:ext cx="146304" cy="64008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150418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Avg precision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39496" y="1673352"/>
            <a:ext cx="5312664" cy="2569464"/>
          </a:xfrm>
          <a:prstGeom prst="roundRect">
            <a:avLst>
              <a:gd name="adj" fmla="val 2135"/>
            </a:avLst>
          </a:prstGeom>
          <a:solidFill>
            <a:srgbClr val="101827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pic>
        <p:nvPicPr>
          <p:cNvPr id="18" name="Image 0" descr="/mnt/data/vc_scout_final_assets/tier_classifier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5257800" cy="25146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99632" y="13716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9632" y="1371600"/>
            <a:ext cx="45720" cy="102412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4224" y="149961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Tempting read</a:t>
            </a:r>
            <a:endParaRPr lang="en-US" sz="1070" dirty="0"/>
          </a:p>
        </p:txBody>
      </p:sp>
      <p:sp>
        <p:nvSpPr>
          <p:cNvPr id="22" name="Text 19"/>
          <p:cNvSpPr/>
          <p:nvPr/>
        </p:nvSpPr>
        <p:spPr>
          <a:xfrm>
            <a:off x="6364224" y="179222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The model separates unicorn-history rows from controls with very high diagnostic accuracy.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9015984" y="137160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15984" y="1371600"/>
            <a:ext cx="45720" cy="10241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80576" y="149961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Statistician read</a:t>
            </a:r>
            <a:endParaRPr lang="en-US" sz="1070" dirty="0"/>
          </a:p>
        </p:txBody>
      </p:sp>
      <p:sp>
        <p:nvSpPr>
          <p:cNvPr id="26" name="Text 23"/>
          <p:cNvSpPr/>
          <p:nvPr/>
        </p:nvSpPr>
        <p:spPr>
          <a:xfrm>
            <a:off x="9180576" y="179222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Some of that signal is likely source/timing bias, not true startup destiny.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6199632" y="278892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99632" y="2788920"/>
            <a:ext cx="45720" cy="102412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64224" y="291693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Safe use</a:t>
            </a:r>
            <a:endParaRPr lang="en-US" sz="1070" dirty="0"/>
          </a:p>
        </p:txBody>
      </p:sp>
      <p:sp>
        <p:nvSpPr>
          <p:cNvPr id="30" name="Text 27"/>
          <p:cNvSpPr/>
          <p:nvPr/>
        </p:nvSpPr>
        <p:spPr>
          <a:xfrm>
            <a:off x="6364224" y="320954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Use expanded-tier scores to prioritize sectors and questions for diligence.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9015984" y="278892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15984" y="2788920"/>
            <a:ext cx="45720" cy="102412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80576" y="291693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Unsafe use</a:t>
            </a:r>
            <a:endParaRPr lang="en-US" sz="1070" dirty="0"/>
          </a:p>
        </p:txBody>
      </p:sp>
      <p:sp>
        <p:nvSpPr>
          <p:cNvPr id="34" name="Text 31"/>
          <p:cNvSpPr/>
          <p:nvPr/>
        </p:nvSpPr>
        <p:spPr>
          <a:xfrm>
            <a:off x="9180576" y="3209544"/>
            <a:ext cx="2185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8B3C5"/>
                </a:solidFill>
              </a:rPr>
              <a:t>Do not claim this predicts arbitrary startups becoming unicorns.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566928" y="489204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6928" y="4892040"/>
            <a:ext cx="45720" cy="658368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" y="5020056"/>
            <a:ext cx="10643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Implementation decision</a:t>
            </a:r>
            <a:endParaRPr lang="en-US" sz="1070" dirty="0"/>
          </a:p>
        </p:txBody>
      </p:sp>
      <p:sp>
        <p:nvSpPr>
          <p:cNvPr id="38" name="Text 35"/>
          <p:cNvSpPr/>
          <p:nvPr/>
        </p:nvSpPr>
        <p:spPr>
          <a:xfrm>
            <a:off x="731520" y="5312664"/>
            <a:ext cx="106436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8B3C5"/>
                </a:solidFill>
              </a:rPr>
              <a:t>The expanded dataset belongs in VC Scout as a diagnostic comparison layer and confidence input, not as the sole basis for a success-probability model.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BUSINESS ACTIONS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recommendations for a VC Scout user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recommendations are deliberately decision-support oriented.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25880"/>
            <a:ext cx="45720" cy="1143000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1. Rank outperformance, not size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31520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Raw valuation and raw unicorn count are too sensitive to capital intensity and market cycles. Rank segments against expected valuation benchmarks.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70832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325880"/>
            <a:ext cx="45720" cy="11430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2. Keep 2021 visible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4535424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Treat 2021 as a market-regime flag. Do not let one unusual funding period define “normal” scouting baselines.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74736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1325880"/>
            <a:ext cx="45720" cy="114300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45389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3. Use residuals as watchlists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339328" y="174650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Sectors, countries, or investor clusters with repeated positive residuals become candidates for deeper diligence.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971800"/>
            <a:ext cx="45720" cy="1143000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4. Add confidence labels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731520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Every score should show sample size, data coverage, and whether the signal depends heavily on audited/corrected fields.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70832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2971800"/>
            <a:ext cx="45720" cy="114300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5. Upgrade investor features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4535424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Replace investor count with top-fund flags, sector specialization, co-investor networks, and timing of involvement.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74736" y="29718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2971800"/>
            <a:ext cx="45720" cy="1143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099816"/>
            <a:ext cx="3099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6. Separate model from diligence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8339328" y="3392424"/>
            <a:ext cx="309981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The tool narrows the search space. Final investment judgments still require revenue, retention, burn, TAM, and ownership data.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" y="5257800"/>
            <a:ext cx="11036808" cy="548640"/>
          </a:xfrm>
          <a:prstGeom prst="roundRect">
            <a:avLst>
              <a:gd name="adj" fmla="val 1333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5257800"/>
            <a:ext cx="45720" cy="548640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85816"/>
            <a:ext cx="10707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4F7FB"/>
                </a:solidFill>
              </a:rPr>
              <a:t>Recommended positioning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731520" y="5678424"/>
            <a:ext cx="10707624" cy="36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8B3C5"/>
                </a:solidFill>
              </a:rPr>
              <a:t>VC Scout is a market-intelligence and prioritization tool, not an automated investment recommender.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20"/>
          </a:solidFill>
          <a:ln w="12700">
            <a:solidFill>
              <a:srgbClr val="0E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4FF">
              <a:alpha val="93000"/>
            </a:srgbClr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383280" cy="27432"/>
          </a:xfrm>
          <a:prstGeom prst="rect">
            <a:avLst/>
          </a:prstGeom>
          <a:solidFill>
            <a:srgbClr val="B58CFF">
              <a:alpha val="85000"/>
            </a:srgbClr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274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45D4FF"/>
                </a:solidFill>
              </a:rPr>
              <a:t>IMPLEMENTATION PLAN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29768" y="530352"/>
            <a:ext cx="8778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gets built before in-person week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5"/>
                </a:solidFill>
              </a:rPr>
              <a:t>The final submission should be traceable enough that every number can be defended.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29768" y="6556248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8758B"/>
                </a:solidFill>
              </a:rPr>
              <a:t>Team 17  |  Startup Growth &amp; Investment  |  VC Scout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0" y="6519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58B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6995160" cy="556260"/>
          </a:xfrm>
          <a:prstGeom prst="rect">
            <a:avLst/>
          </a:prstGeom>
          <a:solidFill>
            <a:srgbClr val="1D2A42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38988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Sprint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470355" y="138988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Workstream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429000" y="138988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4F7FB"/>
                </a:solidFill>
              </a:rPr>
              <a:t>Concrete output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66928" y="1882140"/>
            <a:ext cx="6995160" cy="556260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194614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470355" y="194614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Data QA hardening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429000" y="194614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Finalize audited master, funding audit rule, source notes, and Form D exclusion/context logic.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66928" y="2438400"/>
            <a:ext cx="6995160" cy="556260"/>
          </a:xfrm>
          <a:prstGeom prst="rect">
            <a:avLst/>
          </a:prstGeom>
          <a:solidFill>
            <a:srgbClr val="121C2E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50240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2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470355" y="250240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Benchmark model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3429000" y="250240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Lock audited valuation benchmark, residual outputs, and no-funding stress test.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66928" y="2994660"/>
            <a:ext cx="6995160" cy="556260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05866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3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470355" y="305866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VC Scout score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3429000" y="305866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Combine residual outperformance, tier signal, sector/geography medians, sample-size penalty, and data confidence.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66928" y="3550920"/>
            <a:ext cx="6995160" cy="556260"/>
          </a:xfrm>
          <a:prstGeom prst="rect">
            <a:avLst/>
          </a:prstGeom>
          <a:solidFill>
            <a:srgbClr val="121C2E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61492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4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470355" y="361492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Dashboard / slideware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3429000" y="361492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Build final user-facing view: sector, region, investor cluster, confidence, and limitations.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566928" y="4107180"/>
            <a:ext cx="6995160" cy="556260"/>
          </a:xfrm>
          <a:prstGeom prst="rect">
            <a:avLst/>
          </a:prstGeom>
          <a:solidFill>
            <a:srgbClr val="172236"/>
          </a:solidFill>
          <a:ln w="12700">
            <a:solidFill>
              <a:srgbClr val="2A3958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4171188"/>
            <a:ext cx="72969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5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470355" y="4171188"/>
            <a:ext cx="184891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Final review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429000" y="4171188"/>
            <a:ext cx="4087368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A8B3C5"/>
                </a:solidFill>
              </a:rPr>
              <a:t>Package PPTX/PDF, cleaned CSVs, source-of-truth JSON, and reproducible script for auditability.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882128" y="13258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82128" y="1325880"/>
            <a:ext cx="45720" cy="102412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14538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Deliverable structure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8046720" y="17465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5"/>
                </a:solidFill>
              </a:rPr>
              <a:t>PowerPoint/PDF for stakeholders; audit-trail ZIP for the professor or anyone asking for raw analysis.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882128" y="26974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2128" y="2697480"/>
            <a:ext cx="45720" cy="1024128"/>
          </a:xfrm>
          <a:prstGeom prst="rect">
            <a:avLst/>
          </a:prstGeom>
          <a:solidFill>
            <a:srgbClr val="45D4FF"/>
          </a:solidFill>
          <a:ln w="12700">
            <a:solidFill>
              <a:srgbClr val="45D4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28254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Final model language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8046720" y="31181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5"/>
                </a:solidFill>
              </a:rPr>
              <a:t>“Funding-adjusted valuation outperformance signal” stays defensible and avoids unsupported causal success claims.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882128" y="4069080"/>
            <a:ext cx="3520440" cy="1024128"/>
          </a:xfrm>
          <a:prstGeom prst="roundRect">
            <a:avLst>
              <a:gd name="adj" fmla="val 7143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2128" y="4069080"/>
            <a:ext cx="45720" cy="102412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4197096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4F7FB"/>
                </a:solidFill>
              </a:rPr>
              <a:t>Remaining data need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8046720" y="4489704"/>
            <a:ext cx="319125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8B3C5"/>
                </a:solidFill>
              </a:rPr>
              <a:t>A true success model requires a time-aligned startup panel with non-unicorns, failures, acquisitions, and follow-on outcomes.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66928" y="5577840"/>
            <a:ext cx="10835640" cy="804672"/>
          </a:xfrm>
          <a:prstGeom prst="roundRect">
            <a:avLst>
              <a:gd name="adj" fmla="val 9091"/>
            </a:avLst>
          </a:prstGeom>
          <a:solidFill>
            <a:srgbClr val="172236"/>
          </a:solidFill>
          <a:ln w="12700">
            <a:solidFill>
              <a:srgbClr val="2A3958">
                <a:alpha val="8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" y="5577840"/>
            <a:ext cx="45720" cy="804672"/>
          </a:xfrm>
          <a:prstGeom prst="rect">
            <a:avLst/>
          </a:prstGeom>
          <a:solidFill>
            <a:srgbClr val="B58CFF"/>
          </a:solidFill>
          <a:ln w="12700">
            <a:solidFill>
              <a:srgbClr val="B58C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705856"/>
            <a:ext cx="10506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4F7FB"/>
                </a:solidFill>
              </a:rPr>
              <a:t>Audit-trail files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731520" y="5998464"/>
            <a:ext cx="1050645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8B3C5"/>
                </a:solidFill>
              </a:rPr>
              <a:t>Audited master CSV, Form D audited CSV, model results CSV, residual tables, hypothesis summary, source-of-truth JSON, and analysis script.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Cornell MSBA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 Scout - Revised Results, Insights, and Implementation Plan</dc:title>
  <dc:subject>Revised Results, Insights Summary, and Implementation Plan</dc:subject>
  <dc:creator>Team 17</dc:creator>
  <cp:lastModifiedBy>Team 17</cp:lastModifiedBy>
  <cp:revision>1</cp:revision>
  <dcterms:created xsi:type="dcterms:W3CDTF">2026-07-20T00:31:24Z</dcterms:created>
  <dcterms:modified xsi:type="dcterms:W3CDTF">2026-07-20T00:31:24Z</dcterms:modified>
</cp:coreProperties>
</file>